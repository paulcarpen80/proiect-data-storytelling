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7" r:id="rId4"/>
  </p:sldMasterIdLst>
  <p:notesMasterIdLst>
    <p:notesMasterId r:id="rId13"/>
  </p:notesMasterIdLst>
  <p:handoutMasterIdLst>
    <p:handoutMasterId r:id="rId14"/>
  </p:handoutMasterIdLst>
  <p:sldIdLst>
    <p:sldId id="289" r:id="rId5"/>
    <p:sldId id="257" r:id="rId6"/>
    <p:sldId id="276" r:id="rId7"/>
    <p:sldId id="288" r:id="rId8"/>
    <p:sldId id="283" r:id="rId9"/>
    <p:sldId id="264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F6EB78-AC97-5352-68B2-807AD3840D0B}" v="1107" dt="2026-01-12T16:00:37.636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94" autoAdjust="0"/>
  </p:normalViewPr>
  <p:slideViewPr>
    <p:cSldViewPr snapToGrid="0">
      <p:cViewPr varScale="1">
        <p:scale>
          <a:sx n="110" d="100"/>
          <a:sy n="110" d="100"/>
        </p:scale>
        <p:origin x="72" y="3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C3AC6E793F6AD96/Book%20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C3AC6E793F6AD96/Book%20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C3AC6E793F6AD96/Book%20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3C3AC6E793F6AD96/Book%205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S&amp;P GSCI Crude Oil Index Spot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cat>
            <c:numRef>
              <c:f>Sheet3!G4:G20</c:f>
              <c:numCache>
                <c:formatCode>General</c:formatCode>
                <c:ptCount val="17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</c:numCache>
            </c:numRef>
          </c:cat>
          <c:val>
            <c:numRef>
              <c:f>Sheet3!$H$4:$H$20</c:f>
              <c:numCache>
                <c:formatCode>0.00</c:formatCode>
                <c:ptCount val="17"/>
                <c:pt idx="0">
                  <c:v>706.55333333333328</c:v>
                </c:pt>
                <c:pt idx="1">
                  <c:v>1309.0916666666667</c:v>
                </c:pt>
                <c:pt idx="2">
                  <c:v>549.46</c:v>
                </c:pt>
                <c:pt idx="3">
                  <c:v>501.85750000000002</c:v>
                </c:pt>
                <c:pt idx="4">
                  <c:v>803.95666666666659</c:v>
                </c:pt>
                <c:pt idx="5">
                  <c:v>483.57916666666665</c:v>
                </c:pt>
                <c:pt idx="6">
                  <c:v>573.1350000000001</c:v>
                </c:pt>
                <c:pt idx="7">
                  <c:v>694.70249999999999</c:v>
                </c:pt>
                <c:pt idx="8">
                  <c:v>673.39166666666677</c:v>
                </c:pt>
                <c:pt idx="9">
                  <c:v>556.31833333333327</c:v>
                </c:pt>
                <c:pt idx="10">
                  <c:v>562.9133333333333</c:v>
                </c:pt>
                <c:pt idx="11">
                  <c:v>578.38833333333343</c:v>
                </c:pt>
                <c:pt idx="12">
                  <c:v>669.92750000000001</c:v>
                </c:pt>
                <c:pt idx="13">
                  <c:v>1013.1333333333333</c:v>
                </c:pt>
                <c:pt idx="14">
                  <c:v>1521.5558333333331</c:v>
                </c:pt>
                <c:pt idx="15">
                  <c:v>1289.0325</c:v>
                </c:pt>
                <c:pt idx="16">
                  <c:v>1099.1441666666667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7B-4543-97E1-49BF949C13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06724615"/>
        <c:axId val="281125896"/>
      </c:lineChart>
      <c:catAx>
        <c:axId val="1406724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1125896"/>
        <c:crosses val="autoZero"/>
        <c:auto val="1"/>
        <c:lblAlgn val="ctr"/>
        <c:lblOffset val="100"/>
        <c:noMultiLvlLbl val="0"/>
      </c:catAx>
      <c:valAx>
        <c:axId val="281125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6724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S&amp;P Global Clean Energy Transition Index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cat>
            <c:numRef>
              <c:f>Sheet1!D2:D18</c:f>
              <c:numCache>
                <c:formatCode>General</c:formatCode>
                <c:ptCount val="17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</c:numCache>
            </c:numRef>
          </c:cat>
          <c:val>
            <c:numRef>
              <c:f>Sheet1!$E$2:$E$18</c:f>
              <c:numCache>
                <c:formatCode>0.00</c:formatCode>
                <c:ptCount val="17"/>
                <c:pt idx="0">
                  <c:v>1249.5816666666667</c:v>
                </c:pt>
                <c:pt idx="1">
                  <c:v>473.41500000000002</c:v>
                </c:pt>
                <c:pt idx="2">
                  <c:v>501.85750000000002</c:v>
                </c:pt>
                <c:pt idx="3">
                  <c:v>795.24916666666684</c:v>
                </c:pt>
                <c:pt idx="4">
                  <c:v>535.4758333333333</c:v>
                </c:pt>
                <c:pt idx="5">
                  <c:v>468.58166666666671</c:v>
                </c:pt>
                <c:pt idx="6">
                  <c:v>643.77583333333337</c:v>
                </c:pt>
                <c:pt idx="7">
                  <c:v>690.21500000000003</c:v>
                </c:pt>
                <c:pt idx="8">
                  <c:v>673.39166666666677</c:v>
                </c:pt>
                <c:pt idx="9">
                  <c:v>573.55166666666662</c:v>
                </c:pt>
                <c:pt idx="10">
                  <c:v>547.3549999999999</c:v>
                </c:pt>
                <c:pt idx="11">
                  <c:v>593.84499999999991</c:v>
                </c:pt>
                <c:pt idx="12">
                  <c:v>582.69999999999993</c:v>
                </c:pt>
                <c:pt idx="13">
                  <c:v>698.35750000000007</c:v>
                </c:pt>
                <c:pt idx="14">
                  <c:v>1013.1333333333333</c:v>
                </c:pt>
                <c:pt idx="15">
                  <c:v>1558.8916666666664</c:v>
                </c:pt>
                <c:pt idx="16">
                  <c:v>1354.4758333333334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8B-4658-8ABB-9A3383B22C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1192968"/>
        <c:axId val="281195016"/>
      </c:lineChart>
      <c:catAx>
        <c:axId val="281192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1195016"/>
        <c:crosses val="autoZero"/>
        <c:auto val="1"/>
        <c:lblAlgn val="ctr"/>
        <c:lblOffset val="100"/>
        <c:noMultiLvlLbl val="0"/>
      </c:catAx>
      <c:valAx>
        <c:axId val="281195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11929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CRUDE OIL VS SUSTAINABLE ENERGY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{"CRUDE OIL"}</c:f>
              <c:strCache>
                <c:ptCount val="1"/>
                <c:pt idx="0">
                  <c:v>CRUDE OIL</c:v>
                </c:pt>
              </c:strCache>
            </c:strRef>
          </c:tx>
          <c:spPr>
            <a:ln w="28575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cat>
            <c:numRef>
              <c:f>Sheet3!G4:G20</c:f>
              <c:numCache>
                <c:formatCode>General</c:formatCode>
                <c:ptCount val="17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</c:numCache>
            </c:numRef>
          </c:cat>
          <c:val>
            <c:numRef>
              <c:f>Sheet3!$H$4:$H$20</c:f>
              <c:numCache>
                <c:formatCode>0.00</c:formatCode>
                <c:ptCount val="17"/>
                <c:pt idx="0">
                  <c:v>706.55333333333328</c:v>
                </c:pt>
                <c:pt idx="1">
                  <c:v>1309.0916666666667</c:v>
                </c:pt>
                <c:pt idx="2">
                  <c:v>549.46</c:v>
                </c:pt>
                <c:pt idx="3">
                  <c:v>501.85750000000002</c:v>
                </c:pt>
                <c:pt idx="4">
                  <c:v>803.95666666666659</c:v>
                </c:pt>
                <c:pt idx="5">
                  <c:v>483.57916666666665</c:v>
                </c:pt>
                <c:pt idx="6">
                  <c:v>573.1350000000001</c:v>
                </c:pt>
                <c:pt idx="7">
                  <c:v>694.70249999999999</c:v>
                </c:pt>
                <c:pt idx="8">
                  <c:v>673.39166666666677</c:v>
                </c:pt>
                <c:pt idx="9">
                  <c:v>556.31833333333327</c:v>
                </c:pt>
                <c:pt idx="10">
                  <c:v>562.9133333333333</c:v>
                </c:pt>
                <c:pt idx="11">
                  <c:v>578.38833333333343</c:v>
                </c:pt>
                <c:pt idx="12">
                  <c:v>669.92750000000001</c:v>
                </c:pt>
                <c:pt idx="13">
                  <c:v>1013.1333333333333</c:v>
                </c:pt>
                <c:pt idx="14">
                  <c:v>1521.5558333333331</c:v>
                </c:pt>
                <c:pt idx="15">
                  <c:v>1289.0325</c:v>
                </c:pt>
                <c:pt idx="16">
                  <c:v>1099.1441666666667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F3-4070-9A9B-B89661A36E6D}"/>
            </c:ext>
          </c:extLst>
        </c:ser>
        <c:ser>
          <c:idx val="1"/>
          <c:order val="1"/>
          <c:tx>
            <c:strRef>
              <c:f>{"SUSTAINABLE ENERGY"}</c:f>
              <c:strCache>
                <c:ptCount val="1"/>
                <c:pt idx="0">
                  <c:v>SUSTAINABLE ENERGY</c:v>
                </c:pt>
              </c:strCache>
            </c:strRef>
          </c:tx>
          <c:spPr>
            <a:ln w="28575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cat>
            <c:numRef>
              <c:f>Sheet3!G4:G20</c:f>
              <c:numCache>
                <c:formatCode>General</c:formatCode>
                <c:ptCount val="17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</c:numCache>
            </c:numRef>
          </c:cat>
          <c:val>
            <c:numRef>
              <c:f>Sheet3!$I$4:$I$20</c:f>
              <c:numCache>
                <c:formatCode>General</c:formatCode>
                <c:ptCount val="17"/>
                <c:pt idx="0">
                  <c:v>1249.58</c:v>
                </c:pt>
                <c:pt idx="1">
                  <c:v>473.42</c:v>
                </c:pt>
                <c:pt idx="2">
                  <c:v>501.86</c:v>
                </c:pt>
                <c:pt idx="3">
                  <c:v>795.25</c:v>
                </c:pt>
                <c:pt idx="4">
                  <c:v>535.48</c:v>
                </c:pt>
                <c:pt idx="5">
                  <c:v>468.58</c:v>
                </c:pt>
                <c:pt idx="6">
                  <c:v>643.78</c:v>
                </c:pt>
                <c:pt idx="7">
                  <c:v>690.22</c:v>
                </c:pt>
                <c:pt idx="8">
                  <c:v>673.39</c:v>
                </c:pt>
                <c:pt idx="9">
                  <c:v>573.54999999999995</c:v>
                </c:pt>
                <c:pt idx="10">
                  <c:v>547.36</c:v>
                </c:pt>
                <c:pt idx="11">
                  <c:v>593.85</c:v>
                </c:pt>
                <c:pt idx="12">
                  <c:v>582.70000000000005</c:v>
                </c:pt>
                <c:pt idx="13">
                  <c:v>698.36</c:v>
                </c:pt>
                <c:pt idx="14">
                  <c:v>1013.13</c:v>
                </c:pt>
                <c:pt idx="15">
                  <c:v>1558.89</c:v>
                </c:pt>
                <c:pt idx="16">
                  <c:v>1354.48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F3-4070-9A9B-B89661A36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26374920"/>
        <c:axId val="1526376968"/>
      </c:lineChart>
      <c:catAx>
        <c:axId val="1526374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376968"/>
        <c:crosses val="autoZero"/>
        <c:auto val="1"/>
        <c:lblAlgn val="ctr"/>
        <c:lblOffset val="100"/>
        <c:noMultiLvlLbl val="0"/>
      </c:catAx>
      <c:valAx>
        <c:axId val="1526376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374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SUSTAINABLE ENERGY, OIL, AND ROMANIAN GOVT. BOND YIELDS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{"CRUDE OIL"}</c:f>
              <c:strCache>
                <c:ptCount val="1"/>
                <c:pt idx="0">
                  <c:v>CRUDE OIL</c:v>
                </c:pt>
              </c:strCache>
            </c:strRef>
          </c:tx>
          <c:spPr>
            <a:ln w="28575" cap="rnd">
              <a:solidFill>
                <a:srgbClr val="637CEF"/>
              </a:solidFill>
              <a:round/>
            </a:ln>
            <a:effectLst/>
          </c:spPr>
          <c:marker>
            <c:symbol val="none"/>
          </c:marker>
          <c:cat>
            <c:numRef>
              <c:f>Sheet3!G4:G20</c:f>
              <c:numCache>
                <c:formatCode>General</c:formatCode>
                <c:ptCount val="17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</c:numCache>
            </c:numRef>
          </c:cat>
          <c:val>
            <c:numRef>
              <c:f>Sheet3!$I$4:$I$20</c:f>
              <c:numCache>
                <c:formatCode>General</c:formatCode>
                <c:ptCount val="17"/>
                <c:pt idx="0">
                  <c:v>1249.58</c:v>
                </c:pt>
                <c:pt idx="1">
                  <c:v>473.42</c:v>
                </c:pt>
                <c:pt idx="2">
                  <c:v>501.86</c:v>
                </c:pt>
                <c:pt idx="3">
                  <c:v>795.25</c:v>
                </c:pt>
                <c:pt idx="4">
                  <c:v>535.48</c:v>
                </c:pt>
                <c:pt idx="5">
                  <c:v>468.58</c:v>
                </c:pt>
                <c:pt idx="6">
                  <c:v>643.78</c:v>
                </c:pt>
                <c:pt idx="7">
                  <c:v>690.22</c:v>
                </c:pt>
                <c:pt idx="8">
                  <c:v>673.39</c:v>
                </c:pt>
                <c:pt idx="9">
                  <c:v>573.54999999999995</c:v>
                </c:pt>
                <c:pt idx="10">
                  <c:v>547.36</c:v>
                </c:pt>
                <c:pt idx="11">
                  <c:v>593.85</c:v>
                </c:pt>
                <c:pt idx="12">
                  <c:v>582.70000000000005</c:v>
                </c:pt>
                <c:pt idx="13">
                  <c:v>698.36</c:v>
                </c:pt>
                <c:pt idx="14">
                  <c:v>1013.13</c:v>
                </c:pt>
                <c:pt idx="15">
                  <c:v>1558.89</c:v>
                </c:pt>
                <c:pt idx="16">
                  <c:v>1354.48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85-4389-A1CE-F79A6360F199}"/>
            </c:ext>
          </c:extLst>
        </c:ser>
        <c:ser>
          <c:idx val="3"/>
          <c:order val="1"/>
          <c:tx>
            <c:strRef>
              <c:f>{"BONDS"}</c:f>
              <c:strCache>
                <c:ptCount val="1"/>
                <c:pt idx="0">
                  <c:v>BONDS</c:v>
                </c:pt>
              </c:strCache>
            </c:strRef>
          </c:tx>
          <c:spPr>
            <a:ln w="28575" cap="rnd">
              <a:solidFill>
                <a:srgbClr val="9373C0"/>
              </a:solidFill>
              <a:round/>
            </a:ln>
            <a:effectLst/>
          </c:spPr>
          <c:marker>
            <c:symbol val="none"/>
          </c:marker>
          <c:cat>
            <c:numRef>
              <c:f>Sheet3!G4:G20</c:f>
              <c:numCache>
                <c:formatCode>General</c:formatCode>
                <c:ptCount val="17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</c:numCache>
            </c:numRef>
          </c:cat>
          <c:val>
            <c:numRef>
              <c:f>Sheet3!$L$4:$L$20</c:f>
              <c:numCache>
                <c:formatCode>General</c:formatCode>
                <c:ptCount val="17"/>
                <c:pt idx="0">
                  <c:v>1400</c:v>
                </c:pt>
                <c:pt idx="1">
                  <c:v>1600</c:v>
                </c:pt>
                <c:pt idx="2">
                  <c:v>2000</c:v>
                </c:pt>
                <c:pt idx="3">
                  <c:v>1400</c:v>
                </c:pt>
                <c:pt idx="4">
                  <c:v>1400</c:v>
                </c:pt>
                <c:pt idx="5">
                  <c:v>1400</c:v>
                </c:pt>
                <c:pt idx="6">
                  <c:v>1000</c:v>
                </c:pt>
                <c:pt idx="7">
                  <c:v>800</c:v>
                </c:pt>
                <c:pt idx="8">
                  <c:v>600</c:v>
                </c:pt>
                <c:pt idx="9">
                  <c:v>600</c:v>
                </c:pt>
                <c:pt idx="10">
                  <c:v>800</c:v>
                </c:pt>
                <c:pt idx="11">
                  <c:v>1000</c:v>
                </c:pt>
                <c:pt idx="12">
                  <c:v>1000</c:v>
                </c:pt>
                <c:pt idx="13">
                  <c:v>800</c:v>
                </c:pt>
                <c:pt idx="14">
                  <c:v>800</c:v>
                </c:pt>
                <c:pt idx="15">
                  <c:v>1400</c:v>
                </c:pt>
                <c:pt idx="16">
                  <c:v>1400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85-4389-A1CE-F79A6360F199}"/>
            </c:ext>
          </c:extLst>
        </c:ser>
        <c:ser>
          <c:idx val="1"/>
          <c:order val="2"/>
          <c:tx>
            <c:strRef>
              <c:f>{"GREEN ENERGY"}</c:f>
              <c:strCache>
                <c:ptCount val="1"/>
                <c:pt idx="0">
                  <c:v>GREEN ENERGY</c:v>
                </c:pt>
              </c:strCache>
            </c:strRef>
          </c:tx>
          <c:spPr>
            <a:ln w="28575" cap="rnd">
              <a:solidFill>
                <a:srgbClr val="E3008C"/>
              </a:solidFill>
              <a:round/>
            </a:ln>
            <a:effectLst/>
          </c:spPr>
          <c:marker>
            <c:symbol val="none"/>
          </c:marker>
          <c:cat>
            <c:numRef>
              <c:f>Sheet3!G4:G20</c:f>
              <c:numCache>
                <c:formatCode>General</c:formatCode>
                <c:ptCount val="17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</c:numCache>
            </c:numRef>
          </c:cat>
          <c:val>
            <c:numRef>
              <c:f>Sheet3!H4:H20</c:f>
              <c:numCache>
                <c:formatCode>0.00</c:formatCode>
                <c:ptCount val="17"/>
                <c:pt idx="0">
                  <c:v>706.55333333333328</c:v>
                </c:pt>
                <c:pt idx="1">
                  <c:v>1309.0916666666667</c:v>
                </c:pt>
                <c:pt idx="2">
                  <c:v>549.46</c:v>
                </c:pt>
                <c:pt idx="3">
                  <c:v>501.85750000000002</c:v>
                </c:pt>
                <c:pt idx="4">
                  <c:v>803.95666666666659</c:v>
                </c:pt>
                <c:pt idx="5">
                  <c:v>483.57916666666665</c:v>
                </c:pt>
                <c:pt idx="6">
                  <c:v>573.1350000000001</c:v>
                </c:pt>
                <c:pt idx="7">
                  <c:v>694.70249999999999</c:v>
                </c:pt>
                <c:pt idx="8">
                  <c:v>673.39166666666677</c:v>
                </c:pt>
                <c:pt idx="9">
                  <c:v>556.31833333333327</c:v>
                </c:pt>
                <c:pt idx="10">
                  <c:v>562.9133333333333</c:v>
                </c:pt>
                <c:pt idx="11">
                  <c:v>578.38833333333343</c:v>
                </c:pt>
                <c:pt idx="12">
                  <c:v>669.92750000000001</c:v>
                </c:pt>
                <c:pt idx="13">
                  <c:v>1013.1333333333333</c:v>
                </c:pt>
                <c:pt idx="14">
                  <c:v>1521.5558333333331</c:v>
                </c:pt>
                <c:pt idx="15">
                  <c:v>1289.0325</c:v>
                </c:pt>
                <c:pt idx="16">
                  <c:v>1099.1441666666667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85-4389-A1CE-F79A6360F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2573576"/>
        <c:axId val="1782575624"/>
      </c:lineChart>
      <c:catAx>
        <c:axId val="1782573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2575624"/>
        <c:crosses val="autoZero"/>
        <c:auto val="1"/>
        <c:lblAlgn val="ctr"/>
        <c:lblOffset val="100"/>
        <c:noMultiLvlLbl val="0"/>
      </c:catAx>
      <c:valAx>
        <c:axId val="1782575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2573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2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3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4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4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670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7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606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18350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133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171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8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29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28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7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737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78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137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82950D9A-4705-4314-961A-4F88B2CE4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13969F2-ED52-4E5C-B3FC-01E01B8B9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7729" y="1586722"/>
            <a:ext cx="5216592" cy="337626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800" b="1" i="1" kern="1200" cap="all" baseline="0" dirty="0">
                <a:solidFill>
                  <a:schemeClr val="tx2"/>
                </a:solidFill>
                <a:latin typeface="Arial"/>
                <a:cs typeface="Arial"/>
              </a:rPr>
              <a:t>Portfolio Resilience in Volatile Markets</a:t>
            </a:r>
            <a:br>
              <a:rPr lang="en-US" sz="4800" b="1" dirty="0">
                <a:solidFill>
                  <a:schemeClr val="tx2"/>
                </a:solidFill>
                <a:latin typeface="Arial"/>
                <a:cs typeface="Arial"/>
              </a:rPr>
            </a:br>
            <a:br>
              <a:rPr lang="en-US" sz="4800" b="1" dirty="0">
                <a:solidFill>
                  <a:schemeClr val="tx2"/>
                </a:solidFill>
                <a:latin typeface="Arial"/>
                <a:cs typeface="Arial"/>
              </a:rPr>
            </a:br>
            <a:r>
              <a:rPr lang="en-US" sz="2000" b="1" dirty="0">
                <a:solidFill>
                  <a:schemeClr val="tx2"/>
                </a:solidFill>
                <a:latin typeface="Arial"/>
                <a:cs typeface="Arial"/>
              </a:rPr>
              <a:t>SUSTAINABLE VS. TRADITIONAL ENERGY SOURCES (2007-2023)</a:t>
            </a:r>
            <a:endParaRPr lang="en-US" sz="2000" b="1" i="1" kern="1200" cap="all" baseline="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6" name="Picture Placeholder 5" descr="A field of corn with a factory in the background&#10;&#10;AI-generated content may be incorrect.">
            <a:extLst>
              <a:ext uri="{FF2B5EF4-FFF2-40B4-BE49-F238E27FC236}">
                <a16:creationId xmlns:a16="http://schemas.microsoft.com/office/drawing/2014/main" id="{5F65A36F-A2D7-B90A-B856-7C51DA8A452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4175" r="24176" b="1"/>
          <a:stretch>
            <a:fillRect/>
          </a:stretch>
        </p:blipFill>
        <p:spPr>
          <a:xfrm>
            <a:off x="5879804" y="-6350"/>
            <a:ext cx="6312196" cy="6874330"/>
          </a:xfrm>
          <a:custGeom>
            <a:avLst/>
            <a:gdLst/>
            <a:ahLst/>
            <a:cxnLst/>
            <a:rect l="l" t="t" r="r" b="b"/>
            <a:pathLst>
              <a:path w="6312196" h="6874330">
                <a:moveTo>
                  <a:pt x="2047193" y="0"/>
                </a:moveTo>
                <a:lnTo>
                  <a:pt x="6312196" y="0"/>
                </a:lnTo>
                <a:lnTo>
                  <a:pt x="6312196" y="6874330"/>
                </a:lnTo>
                <a:lnTo>
                  <a:pt x="0" y="6874330"/>
                </a:lnTo>
                <a:close/>
              </a:path>
            </a:pathLst>
          </a:cu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634715" y="0"/>
            <a:ext cx="914401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ECE505-6568-615C-B6F7-61AB2C80427C}"/>
              </a:ext>
            </a:extLst>
          </p:cNvPr>
          <p:cNvSpPr txBox="1"/>
          <p:nvPr/>
        </p:nvSpPr>
        <p:spPr>
          <a:xfrm>
            <a:off x="409877" y="6132772"/>
            <a:ext cx="22978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rial"/>
                <a:cs typeface="Arial"/>
              </a:rPr>
              <a:t>Paul Carpen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620" y="578476"/>
            <a:ext cx="5452057" cy="1494682"/>
          </a:xfrm>
          <a:noFill/>
        </p:spPr>
        <p:txBody>
          <a:bodyPr/>
          <a:lstStyle/>
          <a:p>
            <a:r>
              <a:rPr lang="en-US" dirty="0"/>
              <a:t>CRUDE OIL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C3AA244-F7D2-4158-D89F-80CE07FA5E46}"/>
              </a:ext>
              <a:ext uri="{147F2762-F138-4A5C-976F-8EAC2B608ADB}">
                <a16:predDERef xmlns:a16="http://schemas.microsoft.com/office/drawing/2014/main" pred="{276A6EC5-6916-0CDA-3AAF-A6AEB22E43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4574701"/>
              </p:ext>
            </p:extLst>
          </p:nvPr>
        </p:nvGraphicFramePr>
        <p:xfrm>
          <a:off x="356182" y="2202623"/>
          <a:ext cx="5815348" cy="3539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11F0A70-F75C-3A4B-8A18-BB45CFBCE152}"/>
              </a:ext>
              <a:ext uri="{147F2762-F138-4A5C-976F-8EAC2B608ADB}">
                <a16:predDERef xmlns:a16="http://schemas.microsoft.com/office/drawing/2014/main" pred="{601DF88D-8EA5-1534-83E3-371CBEF968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3226802"/>
              </p:ext>
            </p:extLst>
          </p:nvPr>
        </p:nvGraphicFramePr>
        <p:xfrm>
          <a:off x="6706004" y="2200878"/>
          <a:ext cx="5286242" cy="35426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D76FDF26-CAC2-8989-85D3-C3775C9954BE}"/>
              </a:ext>
            </a:extLst>
          </p:cNvPr>
          <p:cNvSpPr txBox="1">
            <a:spLocks/>
          </p:cNvSpPr>
          <p:nvPr/>
        </p:nvSpPr>
        <p:spPr>
          <a:xfrm>
            <a:off x="6709893" y="580622"/>
            <a:ext cx="5452057" cy="149468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CLEAN ENERGY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group of wind turbines in the fog&#10;&#10;AI-generated content may be incorrect.">
            <a:extLst>
              <a:ext uri="{FF2B5EF4-FFF2-40B4-BE49-F238E27FC236}">
                <a16:creationId xmlns:a16="http://schemas.microsoft.com/office/drawing/2014/main" id="{0B06CF59-E42B-228B-72A6-50415EA1C2C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7020" b="27020"/>
          <a:stretch/>
        </p:blipFill>
        <p:spPr>
          <a:xfrm>
            <a:off x="661" y="5168600"/>
            <a:ext cx="12190677" cy="1687492"/>
          </a:xfrm>
          <a:prstGeom prst="rect">
            <a:avLst/>
          </a:prstGeom>
        </p:spPr>
      </p:pic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C580C0B-D5E3-4326-7154-94822737ADAA}"/>
              </a:ext>
              <a:ext uri="{147F2762-F138-4A5C-976F-8EAC2B608ADB}">
                <a16:predDERef xmlns:a16="http://schemas.microsoft.com/office/drawing/2014/main" pred="{FB3030E0-215B-C635-9B79-D3E70390C3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405149"/>
              </p:ext>
            </p:extLst>
          </p:nvPr>
        </p:nvGraphicFramePr>
        <p:xfrm>
          <a:off x="1524000" y="385233"/>
          <a:ext cx="9146116" cy="4777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046" y="-2087953"/>
            <a:ext cx="4328932" cy="5617194"/>
          </a:xfrm>
          <a:noFill/>
        </p:spPr>
        <p:txBody>
          <a:bodyPr anchor="ctr">
            <a:normAutofit/>
          </a:bodyPr>
          <a:lstStyle/>
          <a:p>
            <a:r>
              <a:rPr lang="en-US" sz="4000" b="1" dirty="0"/>
              <a:t>Did you know?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A8724B-A450-4A89-CB02-495DABC49228}"/>
              </a:ext>
            </a:extLst>
          </p:cNvPr>
          <p:cNvSpPr txBox="1"/>
          <p:nvPr/>
        </p:nvSpPr>
        <p:spPr>
          <a:xfrm>
            <a:off x="3584619" y="5940380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Source: https://business.gmu.edu/news/2025-02/power-passive-investors-double-edged-sword</a:t>
            </a: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3B0BB-420A-E914-A618-6808998A8015}"/>
              </a:ext>
            </a:extLst>
          </p:cNvPr>
          <p:cNvSpPr txBox="1"/>
          <p:nvPr/>
        </p:nvSpPr>
        <p:spPr>
          <a:xfrm>
            <a:off x="3870649" y="2454199"/>
            <a:ext cx="384863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400" b="1" dirty="0"/>
              <a:t>88% of the S&amp;P 500 assets are owned by only 3 companies?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D3EF0-93C8-D3E1-D3F7-1994482D7083}"/>
              </a:ext>
            </a:extLst>
          </p:cNvPr>
          <p:cNvSpPr txBox="1"/>
          <p:nvPr/>
        </p:nvSpPr>
        <p:spPr>
          <a:xfrm>
            <a:off x="4903748" y="4064486"/>
            <a:ext cx="405857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400" b="1" dirty="0"/>
              <a:t>In the US, only around 10% of government bonds are owned by individuals!</a:t>
            </a:r>
          </a:p>
        </p:txBody>
      </p:sp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4870832-54C5-61A6-F7EF-C4B34BFA130D}"/>
              </a:ext>
              <a:ext uri="{147F2762-F138-4A5C-976F-8EAC2B608ADB}">
                <a16:predDERef xmlns:a16="http://schemas.microsoft.com/office/drawing/2014/main" pred="{F30A9A57-D229-811E-8658-47AC18E17A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9875124"/>
              </p:ext>
            </p:extLst>
          </p:nvPr>
        </p:nvGraphicFramePr>
        <p:xfrm>
          <a:off x="532871" y="1716617"/>
          <a:ext cx="7424208" cy="4167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0661869-F79A-8A8D-3CC8-E9FF6E73AEAC}"/>
              </a:ext>
            </a:extLst>
          </p:cNvPr>
          <p:cNvSpPr txBox="1"/>
          <p:nvPr/>
        </p:nvSpPr>
        <p:spPr>
          <a:xfrm>
            <a:off x="1486310" y="668668"/>
            <a:ext cx="550699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latin typeface="Walbaum Display Light"/>
                <a:ea typeface="+mn-lt"/>
                <a:cs typeface="+mn-lt"/>
              </a:rPr>
              <a:t>The Correlation Conflict</a:t>
            </a:r>
            <a:endParaRPr lang="en-US" sz="3600" b="1" dirty="0">
              <a:latin typeface="Walbaum Display Light"/>
            </a:endParaRPr>
          </a:p>
        </p:txBody>
      </p:sp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THE RESOLUTION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 descr="SDGs | KnowSDGs">
            <a:extLst>
              <a:ext uri="{FF2B5EF4-FFF2-40B4-BE49-F238E27FC236}">
                <a16:creationId xmlns:a16="http://schemas.microsoft.com/office/drawing/2014/main" id="{0220386A-F917-72C5-C32F-8DA8AC857F4D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tretch>
            <a:fillRect/>
          </a:stretch>
        </p:blipFill>
        <p:spPr>
          <a:xfrm>
            <a:off x="8733518" y="1315357"/>
            <a:ext cx="2118406" cy="2109335"/>
          </a:xfrm>
          <a:prstGeom prst="rect">
            <a:avLst/>
          </a:prstGeom>
          <a:solidFill>
            <a:prstClr val="white"/>
          </a:solidFill>
        </p:spPr>
      </p:pic>
      <p:pic>
        <p:nvPicPr>
          <p:cNvPr id="8" name="Picture 7" descr="Sustainable consumption and production">
            <a:extLst>
              <a:ext uri="{FF2B5EF4-FFF2-40B4-BE49-F238E27FC236}">
                <a16:creationId xmlns:a16="http://schemas.microsoft.com/office/drawing/2014/main" id="{BFBABED7-740F-176C-F596-A891E0403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3971" y="3708400"/>
            <a:ext cx="2117272" cy="21172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B29CFF-09EA-D7A2-0AC1-37DD45BCE16D}"/>
              </a:ext>
            </a:extLst>
          </p:cNvPr>
          <p:cNvSpPr txBox="1"/>
          <p:nvPr/>
        </p:nvSpPr>
        <p:spPr>
          <a:xfrm>
            <a:off x="1148578" y="2766897"/>
            <a:ext cx="616030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Having a suitable alternative for long term investments now, other than crude oil, gold and government issued bonds, this data could represent a </a:t>
            </a:r>
            <a:r>
              <a:rPr lang="en-US" sz="2000" b="1" dirty="0">
                <a:ea typeface="+mn-lt"/>
                <a:cs typeface="+mn-lt"/>
              </a:rPr>
              <a:t>call to action</a:t>
            </a:r>
            <a:r>
              <a:rPr lang="en-US" sz="2000" dirty="0">
                <a:ea typeface="+mn-lt"/>
                <a:cs typeface="+mn-lt"/>
              </a:rPr>
              <a:t> for regulatory bodies in order to limit the bond ownership of large financial institutions. </a:t>
            </a:r>
            <a:br>
              <a:rPr lang="en-US" sz="2000" dirty="0">
                <a:ea typeface="+mn-lt"/>
                <a:cs typeface="+mn-lt"/>
              </a:rPr>
            </a:br>
            <a:br>
              <a:rPr lang="en-US" sz="2000" dirty="0">
                <a:ea typeface="+mn-lt"/>
                <a:cs typeface="+mn-lt"/>
              </a:rPr>
            </a:br>
            <a:r>
              <a:rPr lang="en-US" sz="2000" dirty="0"/>
              <a:t>This is not at all a revolutionary concept, such measures being </a:t>
            </a:r>
            <a:r>
              <a:rPr lang="en-US" sz="2000" dirty="0" err="1">
                <a:ea typeface="+mn-lt"/>
                <a:cs typeface="+mn-lt"/>
              </a:rPr>
              <a:t>practised</a:t>
            </a:r>
            <a:r>
              <a:rPr lang="en-US" sz="2000" dirty="0">
                <a:ea typeface="+mn-lt"/>
                <a:cs typeface="+mn-lt"/>
              </a:rPr>
              <a:t> in several countries since the 18th century!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/>
              <a:t>Limitations</a:t>
            </a:r>
          </a:p>
        </p:txBody>
      </p:sp>
      <p:pic>
        <p:nvPicPr>
          <p:cNvPr id="24" name="Picture Placeholder 7" descr="Looking up view of tall buildings">
            <a:extLst>
              <a:ext uri="{FF2B5EF4-FFF2-40B4-BE49-F238E27FC236}">
                <a16:creationId xmlns:a16="http://schemas.microsoft.com/office/drawing/2014/main" id="{A672B903-78EE-718A-C122-69D5120788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" b="61"/>
          <a:stretch/>
        </p:blipFill>
        <p:spPr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97545" y="2838824"/>
            <a:ext cx="6941703" cy="429768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1" dirty="0">
                <a:ea typeface="+mn-lt"/>
                <a:cs typeface="+mn-lt"/>
              </a:rPr>
              <a:t>Limitations:</a:t>
            </a:r>
            <a:r>
              <a:rPr lang="en-US" dirty="0">
                <a:ea typeface="+mn-lt"/>
                <a:cs typeface="+mn-lt"/>
              </a:rPr>
              <a:t> Sustainable energy data from 2007-2012 has a smaller sample size than Oil.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i="1" dirty="0">
                <a:ea typeface="+mn-lt"/>
                <a:cs typeface="+mn-lt"/>
              </a:rPr>
              <a:t>Choice:</a:t>
            </a:r>
            <a:r>
              <a:rPr lang="en-US" dirty="0">
                <a:ea typeface="+mn-lt"/>
                <a:cs typeface="+mn-lt"/>
              </a:rPr>
              <a:t> Why 2007–2023?  To capture two major macroeconomic events.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159" y="4171145"/>
            <a:ext cx="8532926" cy="626945"/>
          </a:xfrm>
          <a:noFill/>
        </p:spPr>
        <p:txBody>
          <a:bodyPr anchor="b"/>
          <a:lstStyle/>
          <a:p>
            <a:r>
              <a:rPr lang="en-US" sz="2800" b="1" i="0" dirty="0">
                <a:ea typeface="+mj-lt"/>
                <a:cs typeface="+mj-lt"/>
              </a:rPr>
              <a:t>Financial Resilience = Sustainable Impact.</a:t>
            </a:r>
            <a:endParaRPr 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730F1-7FD8-F13D-8BD7-AC1D0E2DDDD4}"/>
              </a:ext>
            </a:extLst>
          </p:cNvPr>
          <p:cNvSpPr txBox="1"/>
          <p:nvPr/>
        </p:nvSpPr>
        <p:spPr>
          <a:xfrm>
            <a:off x="6092915" y="6403057"/>
            <a:ext cx="463311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Data: www.marketwatch.com, www.oenb.at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AngleLinesVTI</Template>
  <TotalTime>0</TotalTime>
  <Words>428</Words>
  <Application>Microsoft Office PowerPoint</Application>
  <PresentationFormat>Widescreen</PresentationFormat>
  <Paragraphs>123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AngleLinesVTI</vt:lpstr>
      <vt:lpstr>Portfolio Resilience in Volatile Markets  SUSTAINABLE VS. TRADITIONAL ENERGY SOURCES (2007-2023)</vt:lpstr>
      <vt:lpstr>CRUDE OIL</vt:lpstr>
      <vt:lpstr>PowerPoint Presentation</vt:lpstr>
      <vt:lpstr>ADA</vt:lpstr>
      <vt:lpstr>PowerPoint Presentation</vt:lpstr>
      <vt:lpstr>THE RESOLUTION </vt:lpstr>
      <vt:lpstr>Limitations</vt:lpstr>
      <vt:lpstr>Financial Resilience = Sustainable Impact.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167</cp:revision>
  <dcterms:created xsi:type="dcterms:W3CDTF">2023-12-10T21:10:30Z</dcterms:created>
  <dcterms:modified xsi:type="dcterms:W3CDTF">2026-01-12T16:00:49Z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